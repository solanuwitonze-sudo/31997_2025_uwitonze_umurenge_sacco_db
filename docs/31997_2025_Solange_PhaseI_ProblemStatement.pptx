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114800" cy="4114800"/>
          </a:xfrm>
          <a:prstGeom prst="ellipse">
            <a:avLst/>
          </a:prstGeom>
          <a:solidFill>
            <a:srgbClr val="2E427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291840" cy="3291840"/>
          </a:xfrm>
          <a:prstGeom prst="ellipse">
            <a:avLst/>
          </a:prstGeom>
          <a:solidFill>
            <a:srgbClr val="C9A227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C9A22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UMURENGE SACCO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22960" y="187452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Savings &amp; Loan Management System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822960" y="3246120"/>
            <a:ext cx="1280160" cy="54864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429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7F5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Phase I: Problem Statement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822960" y="41605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STUDENT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926080" y="416052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Uwitonze Solange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452628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STUDENT ID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926080" y="452628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31997/2025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48920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COURSE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926080" y="489204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DPR400210 – Database Programming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" y="525780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INSTRUCTOR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26080" y="525780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Eric Maniraguha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822960" y="562356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ACADEMIC YEAR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926080" y="562356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2025-2026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22960" y="598932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9A22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2926080" y="5989320"/>
            <a:ext cx="6858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July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38560" y="-914400"/>
            <a:ext cx="2377440" cy="2377440"/>
          </a:xfrm>
          <a:prstGeom prst="ellipse">
            <a:avLst/>
          </a:prstGeom>
          <a:solidFill>
            <a:srgbClr val="1B2A4A">
              <a:alpha val="1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114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Context &amp; Target Users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051560"/>
            <a:ext cx="822960" cy="45720"/>
          </a:xfrm>
          <a:prstGeom prst="rect">
            <a:avLst/>
          </a:prstGeom>
          <a:solidFill>
            <a:srgbClr val="2E4272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371600"/>
            <a:ext cx="5349240" cy="489204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D173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1691640"/>
            <a:ext cx="502920" cy="50292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📌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600200" y="16916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0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Context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0120" y="2423160"/>
            <a:ext cx="475488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320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Community savings groups (VSLAs) and local SACCOs are widespread across Rwanda</a:t>
            </a:r>
            <a:endParaRPr lang="en-US" sz="135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320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Currently using manual ledgers and spreadsheets to manage operations</a:t>
            </a:r>
            <a:endParaRPr lang="en-US" sz="135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320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Interest calculations are done manually – prone to errors</a:t>
            </a:r>
            <a:endParaRPr lang="en-US" sz="135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320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system to track overdue loans automatically</a:t>
            </a:r>
            <a:endParaRPr lang="en-US" sz="1350" dirty="0"/>
          </a:p>
          <a:p>
            <a:pPr marL="228600" indent="-228600">
              <a:spcAft>
                <a:spcPts val="1400"/>
              </a:spcAft>
              <a:buSzPct val="100000"/>
              <a:buChar char="●"/>
            </a:pPr>
            <a:r>
              <a:rPr lang="en-US" sz="1350" dirty="0">
                <a:solidFill>
                  <a:srgbClr val="1320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Members cannot check their savings balance easily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172200" y="1371600"/>
            <a:ext cx="5349240" cy="4892040"/>
          </a:xfrm>
          <a:prstGeom prst="roundRect">
            <a:avLst>
              <a:gd name="adj" fmla="val 224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D173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92240" y="169164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6492240" y="1691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👥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7132320" y="1691640"/>
            <a:ext cx="4206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0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Target Users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492240" y="23774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SACCO Members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629400" y="269748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–"/>
            </a:pPr>
            <a:r>
              <a:rPr lang="en-US" sz="1200" dirty="0">
                <a:solidFill>
                  <a:srgbClr val="1320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Individuals saving money</a:t>
            </a:r>
            <a:endParaRPr lang="en-US" sz="1200" dirty="0"/>
          </a:p>
          <a:p>
            <a:pPr marL="177800" indent="-177800">
              <a:buSzPct val="100000"/>
              <a:buChar char="–"/>
            </a:pPr>
            <a:r>
              <a:rPr lang="en-US" sz="1200" dirty="0">
                <a:solidFill>
                  <a:srgbClr val="1320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Borrowers applying for loans</a:t>
            </a:r>
            <a:endParaRPr lang="en-US" sz="1200" dirty="0"/>
          </a:p>
          <a:p>
            <a:pPr marL="177800" indent="-177800">
              <a:buSzPct val="100000"/>
              <a:buChar char="–"/>
            </a:pPr>
            <a:r>
              <a:rPr lang="en-US" sz="1200" dirty="0">
                <a:solidFill>
                  <a:srgbClr val="1320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Want to check their balance easily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37490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Loan Officers / Staff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629400" y="406908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–"/>
            </a:pPr>
            <a:r>
              <a:rPr lang="en-US" sz="1200" dirty="0">
                <a:solidFill>
                  <a:srgbClr val="1320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Process loan applications</a:t>
            </a:r>
            <a:endParaRPr lang="en-US" sz="1200" dirty="0"/>
          </a:p>
          <a:p>
            <a:pPr marL="177800" indent="-177800">
              <a:buSzPct val="100000"/>
              <a:buChar char="–"/>
            </a:pPr>
            <a:r>
              <a:rPr lang="en-US" sz="1200" dirty="0">
                <a:solidFill>
                  <a:srgbClr val="1320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Record savings deposits &amp; repayments</a:t>
            </a:r>
            <a:endParaRPr lang="en-US" sz="1200" dirty="0"/>
          </a:p>
          <a:p>
            <a:pPr marL="177800" indent="-177800">
              <a:buSzPct val="100000"/>
              <a:buChar char="–"/>
            </a:pPr>
            <a:r>
              <a:rPr lang="en-US" sz="1200" dirty="0">
                <a:solidFill>
                  <a:srgbClr val="1320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Generate financial reports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92240" y="512064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SACCO Administrators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29400" y="5440680"/>
            <a:ext cx="4617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77800" indent="-177800">
              <a:buSzPct val="100000"/>
              <a:buChar char="–"/>
            </a:pPr>
            <a:r>
              <a:rPr lang="en-US" sz="1200" dirty="0">
                <a:solidFill>
                  <a:srgbClr val="1320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Oversee operations</a:t>
            </a:r>
            <a:endParaRPr lang="en-US" sz="1200" dirty="0"/>
          </a:p>
          <a:p>
            <a:pPr marL="177800" indent="-177800">
              <a:buSzPct val="100000"/>
              <a:buChar char="–"/>
            </a:pPr>
            <a:r>
              <a:rPr lang="en-US" sz="1200" dirty="0">
                <a:solidFill>
                  <a:srgbClr val="1320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Monitor loan performance</a:t>
            </a:r>
            <a:endParaRPr lang="en-US" sz="1200" dirty="0"/>
          </a:p>
          <a:p>
            <a:pPr marL="177800" indent="-177800">
              <a:buSzPct val="100000"/>
              <a:buChar char="–"/>
            </a:pPr>
            <a:r>
              <a:rPr lang="en-US" sz="1200" dirty="0">
                <a:solidFill>
                  <a:srgbClr val="13203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Ensure compliance with policies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20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3840480" cy="3840480"/>
          </a:xfrm>
          <a:prstGeom prst="ellipse">
            <a:avLst/>
          </a:prstGeom>
          <a:solidFill>
            <a:srgbClr val="1B2A4A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789920" y="5120640"/>
            <a:ext cx="3108960" cy="3108960"/>
          </a:xfrm>
          <a:prstGeom prst="ellipse">
            <a:avLst/>
          </a:prstGeom>
          <a:solidFill>
            <a:srgbClr val="2E4272">
              <a:alpha val="5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Project Objectives &amp; Expected Benefits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051560"/>
            <a:ext cx="822960" cy="4572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417320"/>
            <a:ext cx="5349240" cy="4846320"/>
          </a:xfrm>
          <a:prstGeom prst="roundRect">
            <a:avLst>
              <a:gd name="adj" fmla="val 2264"/>
            </a:avLst>
          </a:prstGeom>
          <a:solidFill>
            <a:srgbClr val="1F3155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691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🎯  Objectives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2240280"/>
            <a:ext cx="47548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7F5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Design and implement a centralized Oracle database for SACCO operations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7F5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Automate interest calculation for all loans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7F5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Prevent members with overdue loans from taking new loans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7F5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Enable real-time tracking of savings deposits and loan repayments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300" dirty="0">
                <a:solidFill>
                  <a:srgbClr val="F7F5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Generate daily and weekly financial reports instantly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2200" y="1417320"/>
            <a:ext cx="5349240" cy="4846320"/>
          </a:xfrm>
          <a:prstGeom prst="roundRect">
            <a:avLst>
              <a:gd name="adj" fmla="val 2264"/>
            </a:avLst>
          </a:prstGeom>
          <a:solidFill>
            <a:srgbClr val="1F3155"/>
          </a:solidFill>
          <a:ln/>
        </p:spPr>
      </p:sp>
      <p:sp>
        <p:nvSpPr>
          <p:cNvPr id="10" name="Text 8"/>
          <p:cNvSpPr/>
          <p:nvPr/>
        </p:nvSpPr>
        <p:spPr>
          <a:xfrm>
            <a:off x="6492240" y="16916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✅  Expected Benefits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2240280"/>
            <a:ext cx="47548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7F5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Reduce calculation errors by over 95%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7F5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Eliminate manual interest computation, saving staff hours daily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7F5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Enforce loan policies automatically with no human bias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7F5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Improve member satisfaction through faster service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7F5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Provide accurate financial data for decision-making</a:t>
            </a:r>
            <a:endParaRPr lang="en-US" sz="1250" dirty="0"/>
          </a:p>
          <a:p>
            <a:pPr marL="228600" indent="-2286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F7F5E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Generate audit trail for transparency and accountability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2026-07-12T10:39:32Z</dcterms:created>
  <dcterms:modified xsi:type="dcterms:W3CDTF">2026-07-12T10:39:32Z</dcterms:modified>
</cp:coreProperties>
</file>