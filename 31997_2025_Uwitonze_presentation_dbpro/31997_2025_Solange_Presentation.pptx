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4365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663440"/>
            <a:ext cx="3474720" cy="3474720"/>
          </a:xfrm>
          <a:prstGeom prst="ellipse">
            <a:avLst/>
          </a:prstGeom>
          <a:solidFill>
            <a:srgbClr val="24365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577840"/>
            <a:ext cx="1463040" cy="1463040"/>
          </a:xfrm>
          <a:prstGeom prst="ellipse">
            <a:avLst/>
          </a:prstGeom>
          <a:solidFill>
            <a:srgbClr val="C9A227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UMURENGE SACCO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&amp; LOAN MANAGEMENT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86968" y="2907792"/>
            <a:ext cx="118872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90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Programming Capstone Project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3977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Uwitonze Solange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3205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43205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31997/2025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4663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DPR400210 – Database Programming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0063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50063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Maniraguha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349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53492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6921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0" y="56921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434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SACCOs are widespread across Rwanda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using manual ledgers and spreadsheets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errors, delays, and poor tracking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50876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395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Oracle database system that automates: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7F5E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306324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7F5E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30632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deposits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7F5E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886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388620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7F5E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3886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calculation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70916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7F5E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7091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tracking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15400" y="470916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7F5E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47091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savings groups and local SACCOs manage operations using manual methods.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70205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02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errors in interest calculations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423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70205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702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4231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repayment tracking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9077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907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enforcing loan policies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89077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8907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36118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cannot check their savings balance easily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07949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79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800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officers spend hours calculating interest manually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4800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507949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079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95160" y="4800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 to prevent overdue members from taking new loans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93592" cy="45720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71116" y="18745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2071116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SACCO Members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8620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saving money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applying for loans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check their balance easily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1508760"/>
            <a:ext cx="3593592" cy="45720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47588" y="18745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84758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81144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27432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Officers / Staff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82312" y="3383280"/>
            <a:ext cx="28620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loan applications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savings deposits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repayments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financial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3024" y="1508760"/>
            <a:ext cx="3593592" cy="45720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24060" y="18745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96240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57616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21624" y="27432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SACCO Administrators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558784" y="3383280"/>
            <a:ext cx="28620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operations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loan performance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compliance with policies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(3NF NORMALIZED)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Store member personal details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2768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276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LOAN_TYPES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Define loan products (Inkunga, Ubucuruzi, Amakuru)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Track loans with auto-calculated interest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0815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081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SAVINGS_DEPOSITS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Record member savings deposits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83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LOAN_REPAYMENTS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Track loan repayments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Log all changes for security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1 : M  LOANS</a:t>
            </a:r>
            <a:endParaRPr lang="en-US" sz="12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LOAN_TYPES  1 : M  LOANS</a:t>
            </a:r>
            <a:endParaRPr lang="en-US" sz="12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1 : M  SAVINGS_DEPOSITS</a:t>
            </a:r>
            <a:endParaRPr lang="en-US" sz="12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 1 : M  LOAN_REPAYMENTS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34456" y="2166753"/>
            <a:ext cx="5687568" cy="3246871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pic>
        <p:nvPicPr>
          <p:cNvPr id="20" name="Image 0" descr="erd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221617"/>
            <a:ext cx="5577840" cy="313714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Structures &amp;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(PK) for unique identification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(FK) for referential integrity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for data validation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 for national_id and type_name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for dates and status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– MEMBERS TABLE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789920" cy="22860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53035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national_id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full_name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phone_number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(ACTIVE/SUSPENDED/CLOSED)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73152" cy="2148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fn_get_savings_balance – Returns total savings for a member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08760"/>
            <a:ext cx="73152" cy="2148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sp_weekly_financial_report – Generates weekly report with cursor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86200"/>
            <a:ext cx="73152" cy="2148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Package: pkg_loan_mgmt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approve_loan – Approves a loan application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record_repayment – Records a loan repayment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get_loan_status – Returns loan status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generate_overdue_alert – Lists overdue loans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886200"/>
            <a:ext cx="73152" cy="2148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23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38912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trg_calc_loan_interest – Auto-calculates interest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trg_block_overdue_loan – Blocks overdue members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trg_update_loan_balance – Updates balance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trg_audit_loan_changes – Logs all changes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trg_block_weekend_holiday – Blocks weekend/holiday txns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INSERTED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404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Deposits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2404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17830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1856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2404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TESTS PERFORMED — ALL PASSED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auto-calculation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savings balance function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financial report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38953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package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0" y="38953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loan alert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5280" y="38953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Weekend/holiday blocking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EVIDENCE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50800" dist="25400" dir="5400000">
              <a:srgbClr val="1B2A4A">
                <a:alpha val="12000"/>
              </a:srgbClr>
            </a:outerShdw>
          </a:effectLst>
        </p:spPr>
      </p:sp>
      <p:pic>
        <p:nvPicPr>
          <p:cNvPr id="27" name="Image 0" descr="loans_repayments_comp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0622" y="5513832"/>
            <a:ext cx="1559357" cy="56692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6135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repayments results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297680" y="54406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50800" dist="25400" dir="5400000">
              <a:srgbClr val="1B2A4A">
                <a:alpha val="12000"/>
              </a:srgbClr>
            </a:outerShdw>
          </a:effectLst>
        </p:spPr>
      </p:sp>
      <p:pic>
        <p:nvPicPr>
          <p:cNvPr id="30" name="Image 1" descr="audit_log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5513832"/>
            <a:ext cx="3374136" cy="524983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389120" y="6135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query result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55280" y="5440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FEDE6"/>
          </a:solidFill>
          <a:ln w="15875">
            <a:solidFill>
              <a:srgbClr val="B9B2A0"/>
            </a:solidFill>
            <a:prstDash val="dash"/>
          </a:ln>
        </p:spPr>
      </p:sp>
      <p:sp>
        <p:nvSpPr>
          <p:cNvPr id="33" name="Text 29"/>
          <p:cNvSpPr/>
          <p:nvPr/>
        </p:nvSpPr>
        <p:spPr>
          <a:xfrm>
            <a:off x="7955280" y="5486400"/>
            <a:ext cx="3520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B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34" name="Text 30"/>
          <p:cNvSpPr/>
          <p:nvPr/>
        </p:nvSpPr>
        <p:spPr>
          <a:xfrm>
            <a:off x="8229600" y="5939028"/>
            <a:ext cx="2971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ORA-20001 holiday-block error (pending)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Component –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 vs Total Loans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0299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comparison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29000" y="148132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38728" y="173736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Members by Savings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38728" y="20299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48132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764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173736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Breakdown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7648" y="20299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(Active / Paid / Defaulted)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06840" y="148132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1656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16568" y="173736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Loans Alert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6568" y="20299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notification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514600"/>
            <a:ext cx="7086600" cy="3017520"/>
          </a:xfrm>
          <a:prstGeom prst="roundRect">
            <a:avLst>
              <a:gd name="adj" fmla="val 2424"/>
            </a:avLst>
          </a:prstGeom>
          <a:solidFill>
            <a:srgbClr val="EFEDE6"/>
          </a:solidFill>
          <a:ln w="15875">
            <a:solidFill>
              <a:srgbClr val="B9B2A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B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Power BI / Excel dashboard screenshot here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288036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SACCO performance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decision-making for administrators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identification of overdue loans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tracking of member contributions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4365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3291840" cy="3291840"/>
          </a:xfrm>
          <a:prstGeom prst="ellipse">
            <a:avLst/>
          </a:prstGeom>
          <a:solidFill>
            <a:srgbClr val="24365C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935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complete Oracle database for SACCO operations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interest calculation, loan approval, and repayment tracking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business rules using triggers and constraints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comprehensive PL/SQL package for loan management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audit logging and security controls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dashboard for real-time visualization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16552" y="155448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Overcome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16552" y="2011680"/>
            <a:ext cx="35935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21c CDB environment requiring C## prefix for users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testing and debugging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93024" y="155448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93024" y="2011680"/>
            <a:ext cx="35935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member self-service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mobile money APIs</a:t>
            </a:r>
            <a:endParaRPr lang="en-US" sz="11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7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 alerts for overdue loans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5486400"/>
            <a:ext cx="2130552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2026-07-13T20:28:31Z</dcterms:created>
  <dcterms:modified xsi:type="dcterms:W3CDTF">2026-07-13T20:28:31Z</dcterms:modified>
</cp:coreProperties>
</file>